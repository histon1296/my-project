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87FFB95-12BF-4665-0B1E-1FF76B9D3D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71C19AD-516B-04CB-EC99-2A574BDC7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4501" y="0"/>
            <a:ext cx="15621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0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FAAE20-868E-ADF3-1A58-4B70BFD9D23C}"/>
              </a:ext>
            </a:extLst>
          </p:cNvPr>
          <p:cNvSpPr txBox="1"/>
          <p:nvPr/>
        </p:nvSpPr>
        <p:spPr>
          <a:xfrm>
            <a:off x="5181600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425E00C-D08C-B074-B584-3DF851F81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4498" y="0"/>
            <a:ext cx="15810840" cy="694134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5FD916D-BC00-9CD0-B9DB-15F231D9F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59" r="1440" b="36596"/>
          <a:stretch>
            <a:fillRect/>
          </a:stretch>
        </p:blipFill>
        <p:spPr>
          <a:xfrm>
            <a:off x="2511292" y="2502694"/>
            <a:ext cx="5340615" cy="153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83733-4C26-608E-729B-288CA4D5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solidFill>
                  <a:schemeClr val="tx1">
                    <a:lumMod val="95000"/>
                    <a:lumOff val="5000"/>
                  </a:schemeClr>
                </a:solidFill>
                <a:ea typeface="+mj-lt"/>
                <a:cs typeface="+mj-lt"/>
              </a:rPr>
              <a:t>Герои и их идеалы</a:t>
            </a:r>
            <a:endParaRPr lang="ru-RU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F9ADF0-16D2-ABC8-2BB9-CF4684694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2047"/>
            <a:ext cx="4793916" cy="44449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Пётр Гринёв</a:t>
            </a:r>
            <a:endParaRPr lang="ru-RU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ru-RU" i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«Береги честь смолоду»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(эпиграф ко всему роману).</a:t>
            </a:r>
            <a:endParaRPr lang="ru-RU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Путь от недоросля к зрелому офицеру и дворянину.</a:t>
            </a:r>
            <a:endParaRPr lang="ru-RU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Верность долгу и данному слову, даже перед лицом смерти.</a:t>
            </a:r>
            <a:endParaRPr lang="ru-RU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7544D-AA54-D3E9-2000-5A69EC38874C}"/>
              </a:ext>
            </a:extLst>
          </p:cNvPr>
          <p:cNvSpPr txBox="1"/>
          <p:nvPr/>
        </p:nvSpPr>
        <p:spPr>
          <a:xfrm>
            <a:off x="6764420" y="1717843"/>
            <a:ext cx="4973053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Мария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b="1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Миронова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(</a:t>
            </a:r>
            <a:r>
              <a:rPr lang="en-US" sz="2400" b="1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капитанская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b="1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дочка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)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«</a:t>
            </a:r>
            <a:r>
              <a:rPr lang="en-US" sz="2400" i="1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Умирающая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i="1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львица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»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—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внешне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скромная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но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внутренне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сильная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и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принципиальная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Воплощение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верности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чистоты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и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самоотверженности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Именно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её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действия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спасают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Гринёва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в </a:t>
            </a:r>
            <a:r>
              <a:rPr lang="en-US" sz="24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финале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2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336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CE8448-351C-4AD5-E8A4-522ACDA39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  <a:ea typeface="+mj-lt"/>
                <a:cs typeface="+mj-lt"/>
              </a:rPr>
              <a:t>Антагонисты и наставники</a:t>
            </a:r>
            <a:endParaRPr lang="ru-R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F9351A-4288-55A6-27B1-A991CFBE3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8679"/>
            <a:ext cx="3523917" cy="445828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Емельян </a:t>
            </a:r>
            <a:r>
              <a:rPr lang="ru-RU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Пугачёв:</a:t>
            </a:r>
            <a:endParaRPr lang="ru-RU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Неоднозначная фигура: жестокий бунтовщик и благодарный, справедливый человек.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В его отношениях с Гринёвым проявляется тема милосердия и человеческой связи поверх вражды.</a:t>
            </a:r>
            <a:endParaRPr lang="ru-RU" sz="2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82F04-86B1-24A6-B1B3-115C04874E49}"/>
              </a:ext>
            </a:extLst>
          </p:cNvPr>
          <p:cNvSpPr txBox="1"/>
          <p:nvPr/>
        </p:nvSpPr>
        <p:spPr>
          <a:xfrm>
            <a:off x="4358104" y="1704475"/>
            <a:ext cx="323516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 b="1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Алексей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b="1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Швабрин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:</a:t>
            </a:r>
            <a:endParaRPr lang="en-US" sz="2400" b="1">
              <a:solidFill>
                <a:schemeClr val="tx1">
                  <a:lumMod val="95000"/>
                  <a:lumOff val="5000"/>
                </a:schemeClr>
              </a:solidFill>
              <a:latin typeface="quote-cjk-patch"/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Антипод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Гринёва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Умён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но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циничен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подл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эгоистичен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>
              <a:buFont typeface="Arial"/>
              <a:buChar char="•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Его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предательство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подчёркивает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ценность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чести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Гринёва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85AD57-CDC1-B8F7-05A9-516A64FE3001}"/>
              </a:ext>
            </a:extLst>
          </p:cNvPr>
          <p:cNvSpPr txBox="1"/>
          <p:nvPr/>
        </p:nvSpPr>
        <p:spPr>
          <a:xfrm>
            <a:off x="7593263" y="1717842"/>
            <a:ext cx="375652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l">
              <a:buFont typeface=""/>
              <a:buChar char="•"/>
            </a:pPr>
            <a:r>
              <a:rPr lang="en-US" sz="2400" b="1" i="0" err="1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Савельич</a:t>
            </a:r>
            <a:r>
              <a:rPr lang="en-US" sz="2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:</a:t>
            </a:r>
          </a:p>
          <a:p>
            <a:pPr marL="228600" lvl="1" indent="-228600" algn="l">
              <a:buFont typeface=""/>
              <a:buChar char="•"/>
            </a:pPr>
            <a:r>
              <a:rPr lang="en-US" sz="2400" b="0" i="0" err="1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Верный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400" b="0" i="0" err="1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слуга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 и </a:t>
            </a:r>
            <a:r>
              <a:rPr lang="en-US" sz="2400" b="0" i="0" err="1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по-своему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400" b="0" i="0" err="1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друг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400" b="0" i="0" err="1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Гринёва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.</a:t>
            </a:r>
          </a:p>
          <a:p>
            <a:pPr marL="228600" lvl="1" indent="-228600" algn="l">
              <a:buFont typeface=""/>
              <a:buChar char="•"/>
            </a:pPr>
            <a:r>
              <a:rPr lang="en-US" sz="2400" b="0" i="0" err="1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Воплощение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400" b="0" i="0" err="1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народной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400" b="0" i="0" err="1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мудрости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, </a:t>
            </a:r>
            <a:r>
              <a:rPr lang="en-US" sz="2400" b="0" i="0" err="1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преданности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 и </a:t>
            </a:r>
            <a:r>
              <a:rPr lang="en-US" sz="2400" b="0" i="0" err="1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доброты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quote-cjk-patch"/>
                <a:ea typeface="quote-cjk-patch"/>
                <a:cs typeface="quote-cjk-patch"/>
              </a:rPr>
              <a:t>.</a:t>
            </a: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296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2CFF0-E875-6F2F-AA60-32BF9209C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j-lt"/>
                <a:cs typeface="+mj-lt"/>
              </a:rPr>
              <a:t>О чём на самом деле эта книга?</a:t>
            </a:r>
            <a:endParaRPr lang="ru-RU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B2B899-3F67-7F77-3AE2-343317AA5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Честь и бесчестие: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Главная дилемма для героев (Гринёв </a:t>
            </a:r>
            <a:r>
              <a:rPr lang="ru-RU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vs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Швабрин).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Милосердие и правосудие: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Пугачёв милует Гринёва не по закону, а по велению сердца.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Народ и власть: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Пушкин показывает причины восстания — тяжёлое положение простого народа.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Любовь и верность: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Чувство Маши и Петра проходит через все испытания.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Случай и судьба: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Случайная встреча в буран определяет всю дальнейшую судьбу Гринёва.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489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6A3BE-DBDB-0D81-C1BD-7509E7AC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solidFill>
                  <a:schemeClr val="tx1">
                    <a:lumMod val="95000"/>
                    <a:lumOff val="5000"/>
                  </a:schemeClr>
                </a:solidFill>
                <a:ea typeface="+mj-lt"/>
                <a:cs typeface="+mj-lt"/>
              </a:rPr>
              <a:t>Почему «Капитанская дочка»?</a:t>
            </a:r>
            <a:endParaRPr lang="ru-RU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0070CC-8B22-D08B-8030-4F348CF84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dirty="0"/>
            </a:br>
            <a:r>
              <a:rPr lang="ru-RU" sz="32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Мария Миронова — духовный стержень романа.</a:t>
            </a:r>
            <a:endParaRPr lang="ru-RU" sz="32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ru-RU" sz="32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Именно она, а не офицер Гринёв, совершает самый смелый поступок — едет к императрице, чтобы спасти честь жениха.</a:t>
            </a:r>
            <a:endParaRPr lang="ru-RU" sz="32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ru-RU" sz="32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Название смещает фокус с военно-исторических событий на личную, человеческую историю, где главная ценность — любовь и верность.</a:t>
            </a:r>
            <a:endParaRPr lang="ru-RU" sz="32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318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6863F-9DE4-1960-6654-7025BE95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j-lt"/>
                <a:cs typeface="+mj-lt"/>
              </a:rPr>
              <a:t>Актуальность «Капитанской дочки»</a:t>
            </a:r>
            <a:endParaRPr lang="ru-RU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96B823-A4D3-ADB4-F55D-A72BBA0EE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br>
              <a:rPr lang="en-US" dirty="0"/>
            </a:b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«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Капитанская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дочка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» —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это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не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только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увлекательный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исторический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роман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но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и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глубокое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философское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произведение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о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вечных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ценностях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en-US" sz="3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Пушкин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показывает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что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в любые, даже самые жестокие времена, человек может сохранить своё достоинство.</a:t>
            </a:r>
            <a:endParaRPr lang="en-US" sz="3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Роман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остаётся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актуальным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 так как вопросы чести, долга, милосердия и выбора всегда будут волновать человека.</a:t>
            </a:r>
            <a:endParaRPr lang="en-US" sz="3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br>
              <a:rPr lang="en-US" dirty="0"/>
            </a:br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30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1DA39-2841-5D00-EF85-771BF7264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ru-RU" sz="4000" b="1" dirty="0">
                <a:solidFill>
                  <a:schemeClr val="tx1">
                    <a:lumMod val="95000"/>
                    <a:lumOff val="5000"/>
                  </a:schemeClr>
                </a:solidFill>
                <a:ea typeface="+mj-lt"/>
                <a:cs typeface="+mj-lt"/>
              </a:rPr>
              <a:t>Цитата для размышления</a:t>
            </a:r>
            <a:endParaRPr lang="ru-R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76C5FF-2C86-DDDF-00D1-7CA329B0B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200" i="1" dirty="0">
                <a:ea typeface="+mn-lt"/>
                <a:cs typeface="+mn-lt"/>
              </a:rPr>
              <a:t>«Не приведи Бог видеть русский бунт, бессмысленный и беспощадный!»</a:t>
            </a:r>
          </a:p>
          <a:p>
            <a:r>
              <a:rPr lang="ru-RU" sz="18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(Слова Петра Гринёва)</a:t>
            </a:r>
            <a:endParaRPr lang="ru-RU" sz="18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Рисунок 3" descr="Изображение выглядит как зарисовка, иллюстрация, Штриховая графика, Наброски рабо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A79A949-86A7-2FA3-B0DF-53CA072C7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728162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Презентация PowerPoint</vt:lpstr>
      <vt:lpstr>Презентация PowerPoint</vt:lpstr>
      <vt:lpstr>Презентация PowerPoint</vt:lpstr>
      <vt:lpstr>Герои и их идеалы</vt:lpstr>
      <vt:lpstr>Антагонисты и наставники</vt:lpstr>
      <vt:lpstr>О чём на самом деле эта книга?</vt:lpstr>
      <vt:lpstr>Почему «Капитанская дочка»?</vt:lpstr>
      <vt:lpstr>Актуальность «Капитанской дочки»</vt:lpstr>
      <vt:lpstr>Цитата для размышления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А.С. Пушкин «Капитанская дочка» Исторический роман о чести, долге и любви</dc:title>
  <dc:creator/>
  <cp:lastModifiedBy>Искандар Ишанов</cp:lastModifiedBy>
  <cp:revision>144</cp:revision>
  <dcterms:created xsi:type="dcterms:W3CDTF">2025-11-25T13:44:18Z</dcterms:created>
  <dcterms:modified xsi:type="dcterms:W3CDTF">2025-12-11T06:17:32Z</dcterms:modified>
</cp:coreProperties>
</file>